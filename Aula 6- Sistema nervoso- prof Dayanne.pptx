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8"/>
  </p:notesMasterIdLst>
  <p:sldIdLst>
    <p:sldId id="463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717" r:id="rId16"/>
    <p:sldId id="272" r:id="rId17"/>
    <p:sldId id="273" r:id="rId18"/>
    <p:sldId id="716" r:id="rId19"/>
    <p:sldId id="292" r:id="rId20"/>
    <p:sldId id="293" r:id="rId21"/>
    <p:sldId id="294" r:id="rId22"/>
    <p:sldId id="259" r:id="rId23"/>
    <p:sldId id="260" r:id="rId24"/>
    <p:sldId id="275" r:id="rId25"/>
    <p:sldId id="276" r:id="rId26"/>
    <p:sldId id="277" r:id="rId27"/>
    <p:sldId id="278" r:id="rId28"/>
    <p:sldId id="279" r:id="rId29"/>
    <p:sldId id="319" r:id="rId30"/>
    <p:sldId id="320" r:id="rId31"/>
    <p:sldId id="321" r:id="rId32"/>
    <p:sldId id="322" r:id="rId33"/>
    <p:sldId id="527" r:id="rId34"/>
    <p:sldId id="528" r:id="rId35"/>
    <p:sldId id="323" r:id="rId36"/>
    <p:sldId id="469" r:id="rId37"/>
    <p:sldId id="280" r:id="rId38"/>
    <p:sldId id="281" r:id="rId39"/>
    <p:sldId id="718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659" r:id="rId57"/>
    <p:sldId id="715" r:id="rId58"/>
    <p:sldId id="302" r:id="rId59"/>
    <p:sldId id="509" r:id="rId60"/>
    <p:sldId id="303" r:id="rId61"/>
    <p:sldId id="304" r:id="rId62"/>
    <p:sldId id="305" r:id="rId63"/>
    <p:sldId id="306" r:id="rId64"/>
    <p:sldId id="307" r:id="rId65"/>
    <p:sldId id="308" r:id="rId66"/>
    <p:sldId id="309" r:id="rId6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txvo98Tw/HA0oufnbIzo7qw2F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E270A8-26FD-41CE-94D5-122D9CC93AA1}">
  <a:tblStyle styleId="{74E270A8-26FD-41CE-94D5-122D9CC93A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nne Ayres" userId="b884bcbc1a0b1b94" providerId="LiveId" clId="{79878186-64B1-4DC4-9D18-CCA7F9FA884E}"/>
    <pc:docChg chg="addSld modSld">
      <pc:chgData name="Dayanne Ayres" userId="b884bcbc1a0b1b94" providerId="LiveId" clId="{79878186-64B1-4DC4-9D18-CCA7F9FA884E}" dt="2024-09-13T23:37:09.196" v="3" actId="1076"/>
      <pc:docMkLst>
        <pc:docMk/>
      </pc:docMkLst>
      <pc:sldChg chg="addSp modSp mod">
        <pc:chgData name="Dayanne Ayres" userId="b884bcbc1a0b1b94" providerId="LiveId" clId="{79878186-64B1-4DC4-9D18-CCA7F9FA884E}" dt="2024-09-13T23:37:09.196" v="3" actId="1076"/>
        <pc:sldMkLst>
          <pc:docMk/>
          <pc:sldMk cId="0" sldId="281"/>
        </pc:sldMkLst>
        <pc:spChg chg="mod">
          <ac:chgData name="Dayanne Ayres" userId="b884bcbc1a0b1b94" providerId="LiveId" clId="{79878186-64B1-4DC4-9D18-CCA7F9FA884E}" dt="2024-09-13T23:37:06.345" v="1" actId="6549"/>
          <ac:spMkLst>
            <pc:docMk/>
            <pc:sldMk cId="0" sldId="281"/>
            <ac:spMk id="292" creationId="{00000000-0000-0000-0000-000000000000}"/>
          </ac:spMkLst>
        </pc:spChg>
        <pc:picChg chg="add mod">
          <ac:chgData name="Dayanne Ayres" userId="b884bcbc1a0b1b94" providerId="LiveId" clId="{79878186-64B1-4DC4-9D18-CCA7F9FA884E}" dt="2024-09-13T23:37:09.196" v="3" actId="1076"/>
          <ac:picMkLst>
            <pc:docMk/>
            <pc:sldMk cId="0" sldId="281"/>
            <ac:picMk id="3" creationId="{2FE6474E-C989-1B89-5B8F-E88B9C91FE60}"/>
          </ac:picMkLst>
        </pc:picChg>
      </pc:sldChg>
      <pc:sldChg chg="add">
        <pc:chgData name="Dayanne Ayres" userId="b884bcbc1a0b1b94" providerId="LiveId" clId="{79878186-64B1-4DC4-9D18-CCA7F9FA884E}" dt="2024-09-13T23:37:02.289" v="0" actId="2890"/>
        <pc:sldMkLst>
          <pc:docMk/>
          <pc:sldMk cId="2486449191" sldId="7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68124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6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6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6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6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7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/>
          <p:nvPr/>
        </p:nvSpPr>
        <p:spPr>
          <a:xfrm>
            <a:off x="3455988" y="-35287"/>
            <a:ext cx="56880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Sistema Nervoso</a:t>
            </a:r>
            <a:endParaRPr/>
          </a:p>
        </p:txBody>
      </p:sp>
      <p:pic>
        <p:nvPicPr>
          <p:cNvPr id="11" name="Google Shape;11;p5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13638" y="6428278"/>
            <a:ext cx="1557337" cy="41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5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6429772"/>
            <a:ext cx="893762" cy="45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58"/>
          <p:cNvSpPr/>
          <p:nvPr/>
        </p:nvSpPr>
        <p:spPr>
          <a:xfrm>
            <a:off x="155575" y="266700"/>
            <a:ext cx="8785225" cy="603250"/>
          </a:xfrm>
          <a:prstGeom prst="rect">
            <a:avLst/>
          </a:prstGeom>
          <a:gradFill>
            <a:gsLst>
              <a:gs pos="0">
                <a:srgbClr val="000000"/>
              </a:gs>
              <a:gs pos="35000">
                <a:srgbClr val="000000"/>
              </a:gs>
              <a:gs pos="100000">
                <a:srgbClr val="000000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-1"/>
            <a:ext cx="9144000" cy="12927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2B9DC8-DD46-7F98-81C0-17442AABF79E}"/>
              </a:ext>
            </a:extLst>
          </p:cNvPr>
          <p:cNvSpPr/>
          <p:nvPr/>
        </p:nvSpPr>
        <p:spPr>
          <a:xfrm>
            <a:off x="0" y="1497771"/>
            <a:ext cx="9144000" cy="219320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C1BE532-D93C-2161-FF20-1494ED5C216D}"/>
              </a:ext>
            </a:extLst>
          </p:cNvPr>
          <p:cNvSpPr txBox="1">
            <a:spLocks/>
          </p:cNvSpPr>
          <p:nvPr/>
        </p:nvSpPr>
        <p:spPr>
          <a:xfrm>
            <a:off x="685800" y="2057401"/>
            <a:ext cx="7772400" cy="145256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500" b="1" dirty="0">
                <a:solidFill>
                  <a:schemeClr val="bg1"/>
                </a:solidFill>
              </a:rPr>
              <a:t>ANATOMIA HUMANA</a:t>
            </a:r>
          </a:p>
          <a:p>
            <a:r>
              <a:rPr lang="pt-BR" b="1" dirty="0">
                <a:solidFill>
                  <a:schemeClr val="bg1"/>
                </a:solidFill>
              </a:rPr>
              <a:t>Sistema nervoso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13EBB80C-C283-B466-ED16-E578B3D3E090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 err="1"/>
              <a:t>Profª</a:t>
            </a:r>
            <a:r>
              <a:rPr lang="pt-BR" dirty="0"/>
              <a:t>. Me. Dayanne Ayres</a:t>
            </a:r>
          </a:p>
        </p:txBody>
      </p:sp>
    </p:spTree>
    <p:extLst>
      <p:ext uri="{BB962C8B-B14F-4D97-AF65-F5344CB8AC3E}">
        <p14:creationId xmlns:p14="http://schemas.microsoft.com/office/powerpoint/2010/main" val="127587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>
            <a:off x="234156" y="1273665"/>
            <a:ext cx="8675687" cy="250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primordial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integração do animal com o meio ambiente.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adaptativa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adaptação do animal ao meio ambiente (sudorese, calafrio).</a:t>
            </a: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endParaRPr lang="pt-BR" sz="2400" dirty="0">
              <a:solidFill>
                <a:schemeClr val="dk1"/>
              </a:solidFill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39A6CA-00BE-AB07-E701-F80C0E76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468" y="3512158"/>
            <a:ext cx="5133833" cy="28877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9BD3D26-A85A-F3D3-EC32-51FB51A40A27}"/>
              </a:ext>
            </a:extLst>
          </p:cNvPr>
          <p:cNvSpPr txBox="1"/>
          <p:nvPr/>
        </p:nvSpPr>
        <p:spPr>
          <a:xfrm>
            <a:off x="685800" y="3498850"/>
            <a:ext cx="3378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sistema nervoso é a parte do organismo que transmite sinais entre as suas diferentes partes e coordena as suas ações voluntárias e involuntárias.</a:t>
            </a:r>
          </a:p>
          <a:p>
            <a:endParaRPr lang="pt-B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216057" y="1096244"/>
            <a:ext cx="8675687" cy="481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sensitiva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nervos sensitivos captam informações do meio interno e externo do corpo e as conduzem ao SNC. Sensações gerais e especiais.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integradora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informação sensitiva trazida ao SNC é processada ou interpretada. Coordenação das funções dos vários órgãos.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Função motora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nervos motores conduzem a informação do SNC em direção aos músculos e às glândulas do corpo, levando as informações do SNC. Contrações musculares voluntárias ou involuntárias.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179388" y="1111458"/>
            <a:ext cx="8478837" cy="153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Neurônios.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Células da glia.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Células do tecido nervoso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body" idx="1"/>
          </p:nvPr>
        </p:nvSpPr>
        <p:spPr>
          <a:xfrm>
            <a:off x="409901" y="1111459"/>
            <a:ext cx="8248324" cy="303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Células nervosas que desempenham o papel de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conduzir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impulsos nervosos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Células especializadas: unidades básicas do sistema que processam as informações e estímulos no corpo humano.</a:t>
            </a:r>
            <a:endParaRPr/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3838" y="4146321"/>
            <a:ext cx="36004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Neurônios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179388" y="1216798"/>
            <a:ext cx="8785225" cy="537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Dendritos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prolongamentos finos e geralmente ramificados, que conduzem os estímulos captados do ambiente ou de outras células em direção ao corpo celular. Parte </a:t>
            </a: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receptora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do neurônio.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Corpo celular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parte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mais volumosa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da célula nervosa, onde se localizam o núcleo e a maioria das estruturas citoplasmáticas. Responsável pela </a:t>
            </a: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das informações.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Axônios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prolongamento fino, geralmente mais longo que os dendritos, cuja função é </a:t>
            </a: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transmitir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para as outras células os impulsos nervosos provenientes do corpo celular.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Neurônios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1" descr="PSE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1897" y="1028037"/>
            <a:ext cx="6109898" cy="54447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1"/>
          <p:cNvCxnSpPr/>
          <p:nvPr/>
        </p:nvCxnSpPr>
        <p:spPr>
          <a:xfrm>
            <a:off x="2414151" y="1471613"/>
            <a:ext cx="2512636" cy="157272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70" name="Google Shape;170;p11"/>
          <p:cNvCxnSpPr/>
          <p:nvPr/>
        </p:nvCxnSpPr>
        <p:spPr>
          <a:xfrm rot="10800000" flipH="1">
            <a:off x="1780739" y="2086466"/>
            <a:ext cx="3987250" cy="39926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71" name="Google Shape;171;p11"/>
          <p:cNvCxnSpPr/>
          <p:nvPr/>
        </p:nvCxnSpPr>
        <p:spPr>
          <a:xfrm>
            <a:off x="1471175" y="3327862"/>
            <a:ext cx="2283203" cy="167572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72" name="Google Shape;172;p11"/>
          <p:cNvCxnSpPr/>
          <p:nvPr/>
        </p:nvCxnSpPr>
        <p:spPr>
          <a:xfrm>
            <a:off x="5391283" y="4778728"/>
            <a:ext cx="1576778" cy="89988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73" name="Google Shape;173;p11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Neurônio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06654" y="1166156"/>
            <a:ext cx="26497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 celular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43820" y="2257974"/>
            <a:ext cx="14068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Dendrito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96953" y="3097030"/>
            <a:ext cx="11984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Axônio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298469" y="5786130"/>
            <a:ext cx="351672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Bainha de mielina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968061" y="5518974"/>
            <a:ext cx="29888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 de Ravier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1"/>
          <p:cNvCxnSpPr/>
          <p:nvPr/>
        </p:nvCxnSpPr>
        <p:spPr>
          <a:xfrm>
            <a:off x="4576438" y="4807154"/>
            <a:ext cx="838249" cy="103000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409901" y="1012001"/>
            <a:ext cx="8162599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Formada pelos axônios e dendritos, que atuam como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cabos de transmissão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impulsos nervosos, e por corpos celulares de neurônios, que atuam com estações de processamento e de transmissão de informações.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humano adulto possui cerca de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85 bilhões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neurônios em seu corpo.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Rede de neurônios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056" y="1261726"/>
            <a:ext cx="7138259" cy="502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Rede de neurônios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>
            <a:spLocks noGrp="1"/>
          </p:cNvSpPr>
          <p:nvPr>
            <p:ph type="body" idx="1"/>
          </p:nvPr>
        </p:nvSpPr>
        <p:spPr>
          <a:xfrm>
            <a:off x="409900" y="1111458"/>
            <a:ext cx="8410571" cy="41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Sinapse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Local de </a:t>
            </a:r>
            <a:r>
              <a:rPr lang="pt-BR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contato 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(comunicação) entre dois neurônios.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A transferência do impulso nervoso nas sinapses ocorre graças aos </a:t>
            </a:r>
            <a:r>
              <a:rPr lang="pt-BR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neurotransmissores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, que são biomoléculas (substâncias químicas), produzidas pelos neurônios e armazenadas nas vesículas sinápticas (</a:t>
            </a:r>
            <a:r>
              <a:rPr lang="pt-BR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bolsas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 presentes nas extremidades dos axônios).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Neurônio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514C83-7120-FDC5-A2CB-BB59459E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74" y="3930652"/>
            <a:ext cx="5322451" cy="29273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>
            <a:spLocks noGrp="1"/>
          </p:cNvSpPr>
          <p:nvPr>
            <p:ph type="body" idx="1"/>
          </p:nvPr>
        </p:nvSpPr>
        <p:spPr>
          <a:xfrm>
            <a:off x="195582" y="1125746"/>
            <a:ext cx="8020209" cy="551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Neurônios unipolares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possuem apenas um axônio.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Neurônios bipolares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possuem apenas um dendrito e um axônio.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4816" y="1125745"/>
            <a:ext cx="923447" cy="2288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5791" y="3669588"/>
            <a:ext cx="742472" cy="2574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Tipos de neurônios – forma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body" idx="1"/>
          </p:nvPr>
        </p:nvSpPr>
        <p:spPr>
          <a:xfrm>
            <a:off x="195583" y="1125747"/>
            <a:ext cx="7719692" cy="216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Neurônios pseudounipolares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apresentam apenas um prolongamento que parte do corpo celular, dividindo-se, posteriormente, em dois. Um dos ramos assume o papel de dendrito e o outro de axônio.</a:t>
            </a:r>
            <a:endParaRPr/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5274" y="900122"/>
            <a:ext cx="905198" cy="264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0007" y="3798178"/>
            <a:ext cx="1440491" cy="2540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Tipos de neurônios – forma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179387" y="3873521"/>
            <a:ext cx="773588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Neurônios multipolares: </a:t>
            </a: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possuem mais de dois prolongamentos celulares. Maioria dos neurônios.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179387" y="1158757"/>
            <a:ext cx="8785225" cy="521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Neurônio sensitivo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conduz a informação da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periferia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em direção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ao SNC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, sendo também chamado neurônio </a:t>
            </a: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aferente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Neurônio motor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conduz informação do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SNC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em direção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à periferia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, sendo conhecido como neurônio </a:t>
            </a: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eferente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. Os neurônios sensitivos e motores são encontrados tanto no SNC quanto no SNP.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Neurônio interneurônio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conectam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um neurônio a outro, sendo encontrados no SNC.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Tipos de neurônios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>
            <a:spLocks noGrp="1"/>
          </p:cNvSpPr>
          <p:nvPr>
            <p:ph type="body" idx="1"/>
          </p:nvPr>
        </p:nvSpPr>
        <p:spPr>
          <a:xfrm>
            <a:off x="179388" y="1068586"/>
            <a:ext cx="8785225" cy="51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Células que ocupam os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espaços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entre os neurônios e tem como função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sustentação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revestimento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isolamento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modulação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da atividade neural.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Constituem cerca da metade do volume dos nosso encéfalo.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Número no cérebro quase 10x mais que o número de neurônios.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Células da glia ou gliais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75DA5AA4-3542-4ABF-A6EF-CE4C4EC2354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97972" y="4028464"/>
            <a:ext cx="3408748" cy="1972286"/>
          </a:xfrm>
        </p:spPr>
      </p:pic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6C618EEC-C3CF-482C-83C3-45E3D3893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14" y="1383868"/>
            <a:ext cx="3408748" cy="1962968"/>
          </a:xfrm>
          <a:prstGeom prst="rect">
            <a:avLst/>
          </a:prstGeom>
        </p:spPr>
      </p:pic>
      <p:pic>
        <p:nvPicPr>
          <p:cNvPr id="13" name="Imagem 12" descr="Diagrama&#10;&#10;Descrição gerada automaticamente">
            <a:extLst>
              <a:ext uri="{FF2B5EF4-FFF2-40B4-BE49-F238E27FC236}">
                <a16:creationId xmlns:a16="http://schemas.microsoft.com/office/drawing/2014/main" id="{4FFAEAA6-E062-4408-87DC-B302AD7D5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511" y="4407102"/>
            <a:ext cx="3659489" cy="1593648"/>
          </a:xfrm>
          <a:prstGeom prst="rect">
            <a:avLst/>
          </a:prstGeom>
        </p:spPr>
      </p:pic>
      <p:pic>
        <p:nvPicPr>
          <p:cNvPr id="2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75DA5AA4-3542-4ABF-A6EF-CE4C4EC2354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8286"/>
            <a:ext cx="4544997" cy="2629714"/>
          </a:xfrm>
          <a:prstGeom prst="rect">
            <a:avLst/>
          </a:prstGeom>
        </p:spPr>
      </p:pic>
      <p:pic>
        <p:nvPicPr>
          <p:cNvPr id="11" name="Imagem 10" descr="Diagrama&#10;&#10;Descrição gerada automaticamente">
            <a:extLst>
              <a:ext uri="{FF2B5EF4-FFF2-40B4-BE49-F238E27FC236}">
                <a16:creationId xmlns:a16="http://schemas.microsoft.com/office/drawing/2014/main" id="{382EA69E-4B36-41CA-A2F5-3AE2CB8FA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360" y="2711451"/>
            <a:ext cx="3290458" cy="1686507"/>
          </a:xfrm>
          <a:prstGeom prst="rect">
            <a:avLst/>
          </a:prstGeom>
        </p:spPr>
      </p:pic>
      <p:pic>
        <p:nvPicPr>
          <p:cNvPr id="9" name="Imagem 8" descr="Diagrama&#10;&#10;Descrição gerada automaticamente">
            <a:extLst>
              <a:ext uri="{FF2B5EF4-FFF2-40B4-BE49-F238E27FC236}">
                <a16:creationId xmlns:a16="http://schemas.microsoft.com/office/drawing/2014/main" id="{6EE2324A-7E50-4507-A553-DC04FDD0A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4215" y="1255407"/>
            <a:ext cx="3399785" cy="15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8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179388" y="1068587"/>
            <a:ext cx="8785225" cy="380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Tipos de células gliais: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Astrócitos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dispõem-se ao longo dos capilares sanguíneos do encéfalo, controlando a passagem de substâncias no sangue para as células do sistema nervoso.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Oligodendrócitos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 e as </a:t>
            </a: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células de </a:t>
            </a:r>
            <a:r>
              <a:rPr lang="pt-BR" sz="24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Schwann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enrolam-se sobre os axônios de certos neurônios, formando envoltórios isolantes. 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Células da glia ou gliais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114855"/>
            <a:ext cx="8085039" cy="481445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Células da glia ou gliais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44201E-11D3-FEF2-6B76-16078DB8B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10F81C-5FA8-1023-9A8A-0785BF88EA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66" r="2" b="3612"/>
          <a:stretch/>
        </p:blipFill>
        <p:spPr>
          <a:xfrm>
            <a:off x="310628" y="1719072"/>
            <a:ext cx="5416115" cy="41003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4BD0288-C143-7C9B-EE1A-5FFA7E96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368" y="3166872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97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 txBox="1">
            <a:spLocks noGrp="1"/>
          </p:cNvSpPr>
          <p:nvPr>
            <p:ph type="body" idx="1"/>
          </p:nvPr>
        </p:nvSpPr>
        <p:spPr>
          <a:xfrm>
            <a:off x="457199" y="1114416"/>
            <a:ext cx="8686801" cy="5257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Três níveis (óssea, membranácea e líquida)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Óssea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crânio.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Membranácea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meninges (membranas fibrosas).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Dura-mater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mais espessa e envolve toda a medula, como se fosse uma luva, o saco dural.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Aracnoide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dispõe-se entre a dura-máter e a pia-máter.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Pia-mater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mais delicada e mais interna.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Liquída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(líquido cerebroespinhal): absorção de choques.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Proteção cerebral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2765" y="2259493"/>
            <a:ext cx="5701235" cy="3581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364" y="1197294"/>
            <a:ext cx="2944162" cy="236886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0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Proteção cerebral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380" name="Google Shape;38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body" idx="1"/>
          </p:nvPr>
        </p:nvSpPr>
        <p:spPr>
          <a:xfrm>
            <a:off x="179387" y="1129347"/>
            <a:ext cx="8785225" cy="518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Sistema Nervoso Central – SNC.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Sistema Nervoso Periférico – SNP.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–"/>
            </a:pPr>
            <a:r>
              <a:rPr lang="pt-BR" sz="22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Sistema nervoso somático: </a:t>
            </a:r>
            <a:r>
              <a:rPr lang="pt-BR" sz="2200">
                <a:latin typeface="Arial"/>
                <a:ea typeface="Arial"/>
                <a:cs typeface="Arial"/>
                <a:sym typeface="Arial"/>
              </a:rPr>
              <a:t>responsável pela coordenação dos movimentos do corpo e também por receber estímulos externos; constituído de fibras nervosas periféricas que mandam informações para o Sistema Nervoso Central, além de fibras motoras que inervam os músculos esqueléticos que tem </a:t>
            </a:r>
            <a:r>
              <a:rPr lang="pt-BR" sz="2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movimento voluntário</a:t>
            </a:r>
            <a:r>
              <a:rPr lang="pt-BR" sz="22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–"/>
            </a:pPr>
            <a:r>
              <a:rPr lang="pt-BR" sz="22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Sistema nervoso autônomo</a:t>
            </a:r>
            <a:r>
              <a:rPr lang="pt-BR" sz="2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>
                <a:latin typeface="Arial"/>
                <a:ea typeface="Arial"/>
                <a:cs typeface="Arial"/>
                <a:sym typeface="Arial"/>
              </a:rPr>
              <a:t>controla os músculos lisos dos órgãos internos e glândulas, funciona </a:t>
            </a:r>
            <a:r>
              <a:rPr lang="pt-BR" sz="2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independentemente de nossa vontade</a:t>
            </a:r>
            <a:r>
              <a:rPr lang="pt-BR" sz="2200">
                <a:latin typeface="Arial"/>
                <a:ea typeface="Arial"/>
                <a:cs typeface="Arial"/>
                <a:sym typeface="Arial"/>
              </a:rPr>
              <a:t>, controla as funções da vida vegetativa, como a digestão e a respiração – simpático e parassimpático.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79388" y="289687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Divisão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7;p7">
            <a:extLst>
              <a:ext uri="{FF2B5EF4-FFF2-40B4-BE49-F238E27FC236}">
                <a16:creationId xmlns:a16="http://schemas.microsoft.com/office/drawing/2014/main" id="{B5576C4C-2996-56E8-2343-2963142D440B}"/>
              </a:ext>
            </a:extLst>
          </p:cNvPr>
          <p:cNvSpPr/>
          <p:nvPr/>
        </p:nvSpPr>
        <p:spPr>
          <a:xfrm>
            <a:off x="6223220" y="4588810"/>
            <a:ext cx="1571902" cy="785951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7"/>
          <p:cNvSpPr/>
          <p:nvPr/>
        </p:nvSpPr>
        <p:spPr>
          <a:xfrm>
            <a:off x="20158" y="0"/>
            <a:ext cx="9117725" cy="1292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7"/>
          <p:cNvGrpSpPr/>
          <p:nvPr/>
        </p:nvGrpSpPr>
        <p:grpSpPr>
          <a:xfrm>
            <a:off x="2188711" y="95145"/>
            <a:ext cx="4820459" cy="4886640"/>
            <a:chOff x="1977172" y="776"/>
            <a:chExt cx="4820459" cy="4886640"/>
          </a:xfrm>
        </p:grpSpPr>
        <p:sp>
          <p:nvSpPr>
            <p:cNvPr id="119" name="Google Shape;119;p7"/>
            <p:cNvSpPr/>
            <p:nvPr/>
          </p:nvSpPr>
          <p:spPr>
            <a:xfrm>
              <a:off x="5802035" y="4293081"/>
              <a:ext cx="209645" cy="59433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4776970" y="2163997"/>
              <a:ext cx="336776" cy="18391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4776970" y="2163997"/>
              <a:ext cx="336776" cy="18391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4776970" y="2163997"/>
              <a:ext cx="336776" cy="723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4387402" y="786727"/>
              <a:ext cx="1287639" cy="3300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2201690" y="2163997"/>
              <a:ext cx="336776" cy="18391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2201690" y="2163997"/>
              <a:ext cx="336776" cy="723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4674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3099762" y="786727"/>
              <a:ext cx="1287639" cy="3300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3601451" y="776"/>
              <a:ext cx="1571902" cy="785951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3601451" y="776"/>
              <a:ext cx="1571902" cy="785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Sistema Nervoso</a:t>
              </a:r>
              <a:endParaRPr sz="2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1977172" y="1116827"/>
              <a:ext cx="2245179" cy="1047170"/>
            </a:xfrm>
            <a:prstGeom prst="rect">
              <a:avLst/>
            </a:prstGeom>
            <a:solidFill>
              <a:srgbClr val="4F612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1977172" y="1116827"/>
              <a:ext cx="2245179" cy="1047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Sistema Nervoso Central (SNC)</a:t>
              </a:r>
              <a:endParaRPr sz="2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2538467" y="2494096"/>
              <a:ext cx="1571902" cy="785951"/>
            </a:xfrm>
            <a:prstGeom prst="rect">
              <a:avLst/>
            </a:prstGeom>
            <a:solidFill>
              <a:srgbClr val="4F612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 txBox="1"/>
            <p:nvPr/>
          </p:nvSpPr>
          <p:spPr>
            <a:xfrm>
              <a:off x="2538467" y="2494096"/>
              <a:ext cx="1571902" cy="785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Encéfalo </a:t>
              </a:r>
              <a:endParaRPr sz="2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2538467" y="3610147"/>
              <a:ext cx="1571902" cy="785951"/>
            </a:xfrm>
            <a:prstGeom prst="rect">
              <a:avLst/>
            </a:prstGeom>
            <a:solidFill>
              <a:srgbClr val="4F612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 txBox="1"/>
            <p:nvPr/>
          </p:nvSpPr>
          <p:spPr>
            <a:xfrm>
              <a:off x="2538467" y="3610147"/>
              <a:ext cx="1571902" cy="785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Medula espinhal</a:t>
              </a:r>
              <a:endParaRPr sz="20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4552452" y="1116827"/>
              <a:ext cx="2245179" cy="1047170"/>
            </a:xfrm>
            <a:prstGeom prst="rect">
              <a:avLst/>
            </a:prstGeom>
            <a:solidFill>
              <a:srgbClr val="1736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 txBox="1"/>
            <p:nvPr/>
          </p:nvSpPr>
          <p:spPr>
            <a:xfrm>
              <a:off x="4552452" y="1116827"/>
              <a:ext cx="2245179" cy="1047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Sistema Nervoso Periférico (SNP)</a:t>
              </a:r>
              <a:endParaRPr sz="20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5113747" y="2494096"/>
              <a:ext cx="1571902" cy="785951"/>
            </a:xfrm>
            <a:prstGeom prst="rect">
              <a:avLst/>
            </a:prstGeom>
            <a:solidFill>
              <a:srgbClr val="1736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 txBox="1"/>
            <p:nvPr/>
          </p:nvSpPr>
          <p:spPr>
            <a:xfrm>
              <a:off x="5196841" y="2544272"/>
              <a:ext cx="1405713" cy="723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dirty="0">
                  <a:solidFill>
                    <a:schemeClr val="lt1"/>
                  </a:solidFill>
                </a:rPr>
                <a:t>Sistema Nervoso Somático</a:t>
              </a:r>
              <a:endParaRPr sz="20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5113747" y="3610147"/>
              <a:ext cx="1571902" cy="785951"/>
            </a:xfrm>
            <a:prstGeom prst="rect">
              <a:avLst/>
            </a:prstGeom>
            <a:solidFill>
              <a:srgbClr val="1736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5155293" y="3650911"/>
              <a:ext cx="1488808" cy="723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Sistema Nervoso Autônomo</a:t>
              </a:r>
              <a:endParaRPr sz="20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119;p7">
            <a:extLst>
              <a:ext uri="{FF2B5EF4-FFF2-40B4-BE49-F238E27FC236}">
                <a16:creationId xmlns:a16="http://schemas.microsoft.com/office/drawing/2014/main" id="{553C6776-267A-8150-6D98-5A0A335BDEC6}"/>
              </a:ext>
            </a:extLst>
          </p:cNvPr>
          <p:cNvSpPr/>
          <p:nvPr/>
        </p:nvSpPr>
        <p:spPr>
          <a:xfrm>
            <a:off x="6013575" y="4923125"/>
            <a:ext cx="209645" cy="104295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25400" cap="flat" cmpd="sng">
            <a:solidFill>
              <a:srgbClr val="4674AA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Google Shape;140;p7">
            <a:extLst>
              <a:ext uri="{FF2B5EF4-FFF2-40B4-BE49-F238E27FC236}">
                <a16:creationId xmlns:a16="http://schemas.microsoft.com/office/drawing/2014/main" id="{1004BF06-A8D3-B2B6-CB91-ECB9025B94BD}"/>
              </a:ext>
            </a:extLst>
          </p:cNvPr>
          <p:cNvSpPr txBox="1"/>
          <p:nvPr/>
        </p:nvSpPr>
        <p:spPr>
          <a:xfrm>
            <a:off x="6415996" y="4728214"/>
            <a:ext cx="1186349" cy="50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 Nervoso </a:t>
            </a:r>
            <a:r>
              <a:rPr lang="pt-BR" sz="1600" dirty="0">
                <a:solidFill>
                  <a:schemeClr val="lt1"/>
                </a:solidFill>
              </a:rPr>
              <a:t>Simpático</a:t>
            </a:r>
            <a:endParaRPr sz="1600" b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37;p7">
            <a:extLst>
              <a:ext uri="{FF2B5EF4-FFF2-40B4-BE49-F238E27FC236}">
                <a16:creationId xmlns:a16="http://schemas.microsoft.com/office/drawing/2014/main" id="{03C14130-4495-E324-CCBA-5FD7241CB740}"/>
              </a:ext>
            </a:extLst>
          </p:cNvPr>
          <p:cNvSpPr/>
          <p:nvPr/>
        </p:nvSpPr>
        <p:spPr>
          <a:xfrm>
            <a:off x="6223219" y="5573103"/>
            <a:ext cx="1571902" cy="785951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40;p7">
            <a:extLst>
              <a:ext uri="{FF2B5EF4-FFF2-40B4-BE49-F238E27FC236}">
                <a16:creationId xmlns:a16="http://schemas.microsoft.com/office/drawing/2014/main" id="{6C872B03-DF62-6B80-9163-CE9F591EEF39}"/>
              </a:ext>
            </a:extLst>
          </p:cNvPr>
          <p:cNvSpPr txBox="1"/>
          <p:nvPr/>
        </p:nvSpPr>
        <p:spPr>
          <a:xfrm>
            <a:off x="6271106" y="5682716"/>
            <a:ext cx="1476128" cy="50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 Nervoso Parass</a:t>
            </a:r>
            <a:r>
              <a:rPr lang="pt-BR" sz="1600" dirty="0">
                <a:solidFill>
                  <a:schemeClr val="lt1"/>
                </a:solidFill>
              </a:rPr>
              <a:t>impático</a:t>
            </a:r>
            <a:endParaRPr sz="1600" b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51" y="1907625"/>
            <a:ext cx="9055476" cy="179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62301" y="1173447"/>
            <a:ext cx="84105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Divisão Anatômica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358051" y="2522476"/>
            <a:ext cx="1198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(Crânio)</a:t>
            </a:r>
            <a:endParaRPr sz="18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3400089" y="3475127"/>
            <a:ext cx="2117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(Canal vertebral)</a:t>
            </a:r>
            <a:endParaRPr sz="1800" b="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Central – SNC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>
            <a:spLocks noGrp="1"/>
          </p:cNvSpPr>
          <p:nvPr>
            <p:ph type="body" idx="1"/>
          </p:nvPr>
        </p:nvSpPr>
        <p:spPr>
          <a:xfrm>
            <a:off x="204951" y="1127235"/>
            <a:ext cx="8781393" cy="609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Hemisférios: direito e esquerdo.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Lobos: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Lobo frontal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personalidade, motricidade e expressão da fala.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Lobo occipital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visão e reconhecimento do tamanho, formato e cor.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Lobo parietal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leitura e sensibilidade grosseira e fina.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Lobo temporal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comportamento, audição e compreensão da linguagem.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Central – encéfalo (crânio)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683" y="1125156"/>
            <a:ext cx="7902524" cy="525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Central – encéfalo (crânio)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76" r="127"/>
          <a:stretch/>
        </p:blipFill>
        <p:spPr>
          <a:xfrm>
            <a:off x="144025" y="1126088"/>
            <a:ext cx="8837945" cy="50000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79388" y="307975"/>
            <a:ext cx="8785225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Central – encéfalo (crânio)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body" idx="1"/>
          </p:nvPr>
        </p:nvSpPr>
        <p:spPr>
          <a:xfrm>
            <a:off x="457200" y="1127236"/>
            <a:ext cx="8229600" cy="1836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Telencéfalo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Maior e principal porção do encéfalo.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Responsável por funções mentais complexas.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539" y="2963917"/>
            <a:ext cx="279082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144" y="2963917"/>
            <a:ext cx="39528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978E24-9FBB-081B-C5E5-244188E9C5B5}"/>
              </a:ext>
            </a:extLst>
          </p:cNvPr>
          <p:cNvSpPr txBox="1"/>
          <p:nvPr/>
        </p:nvSpPr>
        <p:spPr>
          <a:xfrm flipH="1">
            <a:off x="2679355" y="2656140"/>
            <a:ext cx="2414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Fissura longitudinal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6FE7763-1A92-3636-3A06-1DD15F9508AE}"/>
              </a:ext>
            </a:extLst>
          </p:cNvPr>
          <p:cNvCxnSpPr/>
          <p:nvPr/>
        </p:nvCxnSpPr>
        <p:spPr>
          <a:xfrm flipV="1">
            <a:off x="2490951" y="2963917"/>
            <a:ext cx="883185" cy="296041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1F155DED-687D-42F9-AAE3-862BA926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98" y="1425008"/>
            <a:ext cx="8040604" cy="437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50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E4A6311B-1CB5-4DE7-AF07-BD909D1D3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00" y="1912693"/>
            <a:ext cx="8469107" cy="268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95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72F4D054-6A59-4883-A948-0EAB758F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4" y="1439587"/>
            <a:ext cx="8750772" cy="45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2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50B467E9-4382-4AEB-91CE-8F87E8C6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1414285"/>
            <a:ext cx="8543925" cy="44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27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6592" y="7726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CLASSIFICAÇÃO FUNCIONAL</a:t>
            </a:r>
            <a:br>
              <a:rPr lang="pt-BR" b="1" dirty="0"/>
            </a:br>
            <a:r>
              <a:rPr lang="pt-BR" b="1" dirty="0"/>
              <a:t>Córtex Cerebral</a:t>
            </a:r>
            <a:br>
              <a:rPr lang="pt-BR" b="1" dirty="0"/>
            </a:b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467544" y="1916832"/>
            <a:ext cx="79928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rgbClr val="000000"/>
                </a:solidFill>
                <a:latin typeface="Arial" panose="020B0604020202020204" pitchFamily="34" charset="0"/>
              </a:rPr>
              <a:t>1)Áreas de projeção ou áreas primárias: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</a:rPr>
              <a:t>São as que recebem ou dão origem a fibras relacionadas diretamente com a sensibilidade e com a motricidade</a:t>
            </a:r>
          </a:p>
          <a:p>
            <a:pPr algn="just">
              <a:lnSpc>
                <a:spcPct val="150000"/>
              </a:lnSpc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rgbClr val="000000"/>
                </a:solidFill>
                <a:latin typeface="Arial" panose="020B0604020202020204" pitchFamily="34" charset="0"/>
              </a:rPr>
              <a:t>2) Áreas de associação (secundárias e terciárias):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</a:rPr>
              <a:t>relacionadas ao processamento mais complexo das informações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8028384" y="8361"/>
            <a:ext cx="1115616" cy="105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531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rtex Cerebral- Neuroanatomia: ESTRUTURA E FUNÇÕES DO CÓRTEX CEREBRAL-  Parte I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1" y="1061097"/>
            <a:ext cx="8943737" cy="44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8028384" y="8361"/>
            <a:ext cx="1115616" cy="105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82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apa colorido com texto preto sobre fundo branco&#10;&#10;Descrição gerada automaticamente">
            <a:extLst>
              <a:ext uri="{FF2B5EF4-FFF2-40B4-BE49-F238E27FC236}">
                <a16:creationId xmlns:a16="http://schemas.microsoft.com/office/drawing/2014/main" id="{6CB60E19-A35E-40DD-B96F-5E99EA22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35" y="907036"/>
            <a:ext cx="7051216" cy="509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03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6429" y="951507"/>
            <a:ext cx="6557899" cy="617564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Substância Branca e Substância Cinzenta</a:t>
            </a:r>
          </a:p>
        </p:txBody>
      </p:sp>
      <p:sp>
        <p:nvSpPr>
          <p:cNvPr id="5" name="AutoShape 2" descr="Resultado de imagem para substancia branca e cinzenta"/>
          <p:cNvSpPr>
            <a:spLocks noChangeAspect="1" noChangeArrowheads="1"/>
          </p:cNvSpPr>
          <p:nvPr/>
        </p:nvSpPr>
        <p:spPr bwMode="auto">
          <a:xfrm>
            <a:off x="155575" y="71278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149" name="Picture 5" descr="Resultado de imagem para substancia branca e cinzenta cÃ©reb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6" y="2182887"/>
            <a:ext cx="3903985" cy="361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7" descr="Resultado de imagem para substancia branca e cinzenta medula"/>
          <p:cNvSpPr>
            <a:spLocks noChangeAspect="1" noChangeArrowheads="1"/>
          </p:cNvSpPr>
          <p:nvPr/>
        </p:nvSpPr>
        <p:spPr bwMode="auto">
          <a:xfrm>
            <a:off x="307975" y="86518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2863974"/>
            <a:ext cx="4157997" cy="222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32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326826" y="1131924"/>
            <a:ext cx="4135446" cy="521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1" dirty="0">
                <a:latin typeface="Arial"/>
                <a:ea typeface="Arial"/>
                <a:cs typeface="Arial"/>
                <a:sym typeface="Arial"/>
              </a:rPr>
              <a:t>Telencéfalo –funções:</a:t>
            </a:r>
            <a:br>
              <a:rPr lang="pt-BR" sz="24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Sensações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Atos conscientes e voluntários (movimentos)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Pensamento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Memória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Inteligência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Aprendizagem 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Sentidos</a:t>
            </a:r>
            <a:br>
              <a:rPr lang="pt-BR" sz="2400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Equilíbrio</a:t>
            </a:r>
            <a:br>
              <a:rPr lang="pt-BR" sz="2400" b="1" dirty="0">
                <a:latin typeface="Arial"/>
                <a:ea typeface="Arial"/>
                <a:cs typeface="Arial"/>
                <a:sym typeface="Arial"/>
              </a:rPr>
            </a:br>
            <a:br>
              <a:rPr lang="pt-BR" sz="2400" b="1" dirty="0">
                <a:latin typeface="Arial"/>
                <a:ea typeface="Arial"/>
                <a:cs typeface="Arial"/>
                <a:sym typeface="Arial"/>
              </a:rPr>
            </a:br>
            <a:endParaRPr lang="pt-BR" sz="24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3376" y="1131924"/>
            <a:ext cx="5200624" cy="572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body" idx="1"/>
          </p:nvPr>
        </p:nvSpPr>
        <p:spPr>
          <a:xfrm>
            <a:off x="220710" y="1158765"/>
            <a:ext cx="8860222" cy="50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220710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E6474E-C989-1B89-5B8F-E88B9C91F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7" y="1370866"/>
            <a:ext cx="8040222" cy="50489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body" idx="1"/>
          </p:nvPr>
        </p:nvSpPr>
        <p:spPr>
          <a:xfrm>
            <a:off x="220710" y="1158765"/>
            <a:ext cx="8860222" cy="50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Diencéfalo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Tálamo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sensibilidade, motricidade, comportamento emocional, ativação do córtex, desempenha papel no mecanismo de vigília ou estado de alerta.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Hipotálamo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controle do sistema nervoso autônomo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, regulação da temperatura corporal, regulação do comportamento emocional, regulação do sono e da vigília, regulação da ingestão de alimentos, regulação da ingestão de água, regulação da diurese, regulação do sistema endócrino, geração e regulação de ritmos circadianos.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220710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</a:p>
        </p:txBody>
      </p:sp>
    </p:spTree>
    <p:extLst>
      <p:ext uri="{BB962C8B-B14F-4D97-AF65-F5344CB8AC3E}">
        <p14:creationId xmlns:p14="http://schemas.microsoft.com/office/powerpoint/2010/main" val="2486449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>
            <a:spLocks noGrp="1"/>
          </p:cNvSpPr>
          <p:nvPr>
            <p:ph type="body" idx="1"/>
          </p:nvPr>
        </p:nvSpPr>
        <p:spPr>
          <a:xfrm>
            <a:off x="220710" y="1158766"/>
            <a:ext cx="8860222" cy="2703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Diencéfalo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Epitálamo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regulação do comportamento emocional.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Subtálamo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movimentos, coordenação da motricidade.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901" y="1679022"/>
            <a:ext cx="5728466" cy="43118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0"/>
          <p:cNvSpPr/>
          <p:nvPr/>
        </p:nvSpPr>
        <p:spPr>
          <a:xfrm>
            <a:off x="409901" y="1057939"/>
            <a:ext cx="17411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Diencéfalo</a:t>
            </a:r>
            <a:endParaRPr/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1253" y="3834952"/>
            <a:ext cx="2774716" cy="230669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SNC – encéfalo (crânio) - cérebro</a:t>
            </a:r>
            <a:endParaRPr sz="28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 txBox="1">
            <a:spLocks noGrp="1"/>
          </p:cNvSpPr>
          <p:nvPr>
            <p:ph type="body" idx="1"/>
          </p:nvPr>
        </p:nvSpPr>
        <p:spPr>
          <a:xfrm>
            <a:off x="457200" y="120606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b="1" dirty="0">
                <a:latin typeface="Arial"/>
                <a:ea typeface="Arial"/>
                <a:cs typeface="Arial"/>
                <a:sym typeface="Arial"/>
              </a:rPr>
              <a:t>Mesencéfalo, ponte e bulbo</a:t>
            </a:r>
            <a:r>
              <a:rPr lang="pt-BR" sz="28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Mesencéfalo: reflexos visuais.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Ponte: estrutura de ligação.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Bulbo: controle automático da respiração e frequência cardíaca.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– tronco encefálico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8538" y="1342425"/>
            <a:ext cx="6565188" cy="461776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– tronco encefálico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>
            <a:spLocks noGrp="1"/>
          </p:cNvSpPr>
          <p:nvPr>
            <p:ph type="body" idx="1"/>
          </p:nvPr>
        </p:nvSpPr>
        <p:spPr>
          <a:xfrm>
            <a:off x="409901" y="1064166"/>
            <a:ext cx="8191174" cy="126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Cerebelo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(pequeno cérebro): coordenação muscular, tônus e postura.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3613" y="2191407"/>
            <a:ext cx="5830873" cy="458533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6274673" y="5983015"/>
            <a:ext cx="945931" cy="362607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encéfalo (crânio) – cerebelo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>
            <a:spLocks noGrp="1"/>
          </p:cNvSpPr>
          <p:nvPr>
            <p:ph type="body" idx="1"/>
          </p:nvPr>
        </p:nvSpPr>
        <p:spPr>
          <a:xfrm>
            <a:off x="218364" y="1141326"/>
            <a:ext cx="5723922" cy="373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Medula Espinhal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miolo, dentro do canal vertebral (sem ocupá-lo completamente).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Continuação do bulbo até o cone medular (cerca de 45cm no homem adulto).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Raizes nervosas (cauda equina).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Filamento terminal.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2286" y="1417637"/>
            <a:ext cx="3019472" cy="47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medula espinhal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H</a:t>
            </a:r>
            <a:endParaRPr/>
          </a:p>
        </p:txBody>
      </p:sp>
      <p:pic>
        <p:nvPicPr>
          <p:cNvPr id="340" name="Google Shape;340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62" b="668"/>
          <a:stretch/>
        </p:blipFill>
        <p:spPr>
          <a:xfrm>
            <a:off x="874777" y="57152"/>
            <a:ext cx="8283517" cy="675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7456"/>
            <a:ext cx="2621975" cy="23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5"/>
          <p:cNvSpPr/>
          <p:nvPr/>
        </p:nvSpPr>
        <p:spPr>
          <a:xfrm>
            <a:off x="2621975" y="3361459"/>
            <a:ext cx="1407100" cy="935182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1997" y="2763459"/>
            <a:ext cx="4487998" cy="335756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6"/>
          <p:cNvSpPr/>
          <p:nvPr/>
        </p:nvSpPr>
        <p:spPr>
          <a:xfrm>
            <a:off x="25977" y="223480"/>
            <a:ext cx="9118023" cy="12385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t="1699" b="570"/>
          <a:stretch/>
        </p:blipFill>
        <p:spPr>
          <a:xfrm>
            <a:off x="-27296" y="675563"/>
            <a:ext cx="4691997" cy="3500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>
            <a:spLocks noGrp="1"/>
          </p:cNvSpPr>
          <p:nvPr>
            <p:ph type="body" idx="1"/>
          </p:nvPr>
        </p:nvSpPr>
        <p:spPr>
          <a:xfrm>
            <a:off x="457200" y="1114415"/>
            <a:ext cx="505663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Substância cinzenta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central (forma de H).</a:t>
            </a:r>
            <a:endParaRPr dirty="0"/>
          </a:p>
          <a:p>
            <a:pPr marL="357188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Corpos celulares dos neurônios e sinapses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Corno </a:t>
            </a:r>
            <a:r>
              <a:rPr lang="pt-BR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impulso nervoso </a:t>
            </a:r>
            <a:r>
              <a:rPr lang="pt-BR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sensitivo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Corno </a:t>
            </a:r>
            <a:r>
              <a:rPr lang="pt-BR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impulso nervoso </a:t>
            </a:r>
            <a:r>
              <a:rPr lang="pt-BR" sz="24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Substância branca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: contém as fibras nervosas ascendentes (sensitivas) e as descendentes (motoras).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SNC – medula espinhal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F3FC2B38-69F7-1FC3-998B-F1676C49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217622"/>
            <a:ext cx="3323741" cy="503634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SNP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2"/>
          <p:cNvSpPr txBox="1"/>
          <p:nvPr/>
        </p:nvSpPr>
        <p:spPr>
          <a:xfrm>
            <a:off x="102870" y="3177540"/>
            <a:ext cx="42351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Nervoso Periférico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2"/>
          <p:cNvSpPr txBox="1"/>
          <p:nvPr/>
        </p:nvSpPr>
        <p:spPr>
          <a:xfrm>
            <a:off x="4491990" y="2426648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Nervos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2"/>
          <p:cNvSpPr txBox="1"/>
          <p:nvPr/>
        </p:nvSpPr>
        <p:spPr>
          <a:xfrm>
            <a:off x="4491990" y="3200733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Gânglios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4491990" y="3974818"/>
            <a:ext cx="30403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Terminações nervosas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2"/>
          <p:cNvSpPr txBox="1"/>
          <p:nvPr/>
        </p:nvSpPr>
        <p:spPr>
          <a:xfrm>
            <a:off x="5793405" y="2725195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Espinhais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5793405" y="2200866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Cranianos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2"/>
          <p:cNvSpPr/>
          <p:nvPr/>
        </p:nvSpPr>
        <p:spPr>
          <a:xfrm>
            <a:off x="4338030" y="2426648"/>
            <a:ext cx="153960" cy="200983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2"/>
          <p:cNvSpPr/>
          <p:nvPr/>
        </p:nvSpPr>
        <p:spPr>
          <a:xfrm>
            <a:off x="5663775" y="2211317"/>
            <a:ext cx="129630" cy="951316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102870" y="1118101"/>
            <a:ext cx="86799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Maior parte do sistema nervoso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canal vertebral.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>
            <a:spLocks noGrp="1"/>
          </p:cNvSpPr>
          <p:nvPr>
            <p:ph type="body" idx="1"/>
          </p:nvPr>
        </p:nvSpPr>
        <p:spPr>
          <a:xfrm>
            <a:off x="457200" y="111441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Fibras nervosas são classificadas quanto a sua função: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Sensitivas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aferentes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): levam informações da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periferia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para 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sistema nervoso central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(SNC).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Motoras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eferentes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): levam informações do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SNC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para os músculos ou orgão (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periferia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3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>
            <a:spLocks noGrp="1"/>
          </p:cNvSpPr>
          <p:nvPr>
            <p:ph type="body" idx="1"/>
          </p:nvPr>
        </p:nvSpPr>
        <p:spPr>
          <a:xfrm>
            <a:off x="409901" y="120015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Nervos Cranianos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– 12 pares </a:t>
            </a: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Sensitivos.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Motores.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Mistos.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Nervos Espinhais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– 31 pares (Mistos) </a:t>
            </a: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Raiz ventral – Fibras motoras (eferentes);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Raiz dorsal – Fibras sensitivas (aferentes).                    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4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body" idx="1"/>
          </p:nvPr>
        </p:nvSpPr>
        <p:spPr>
          <a:xfrm>
            <a:off x="142875" y="1141326"/>
            <a:ext cx="9001125" cy="5373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12 pares de nervos cranianos (fazem conexão com o encéfalo).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 b="1" dirty="0">
                <a:latin typeface="Arial"/>
                <a:ea typeface="Arial"/>
                <a:cs typeface="Arial"/>
                <a:sym typeface="Arial"/>
              </a:rPr>
              <a:t>Motores (puros)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 são os que movimentam o olho, a língua e acessoriamente os músculos </a:t>
            </a:r>
            <a:r>
              <a:rPr lang="pt-BR" sz="2400" dirty="0" err="1">
                <a:latin typeface="Arial"/>
                <a:ea typeface="Arial"/>
                <a:cs typeface="Arial"/>
                <a:sym typeface="Arial"/>
              </a:rPr>
              <a:t>látero</a:t>
            </a: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-posteriores do pescoço: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 dirty="0">
                <a:latin typeface="Arial"/>
                <a:ea typeface="Arial"/>
                <a:cs typeface="Arial"/>
                <a:sym typeface="Arial"/>
              </a:rPr>
              <a:t>III – Nervo Oculomotor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 dirty="0">
                <a:latin typeface="Arial"/>
                <a:ea typeface="Arial"/>
                <a:cs typeface="Arial"/>
                <a:sym typeface="Arial"/>
              </a:rPr>
              <a:t>IV – Nervo Troclear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 dirty="0">
                <a:latin typeface="Arial"/>
                <a:ea typeface="Arial"/>
                <a:cs typeface="Arial"/>
                <a:sym typeface="Arial"/>
              </a:rPr>
              <a:t>VI – Nervo Abducente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 dirty="0">
                <a:latin typeface="Arial"/>
                <a:ea typeface="Arial"/>
                <a:cs typeface="Arial"/>
                <a:sym typeface="Arial"/>
              </a:rPr>
              <a:t>XI – Nervo Acessório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 dirty="0">
                <a:latin typeface="Arial"/>
                <a:ea typeface="Arial"/>
                <a:cs typeface="Arial"/>
                <a:sym typeface="Arial"/>
              </a:rPr>
              <a:t>XII – Nervo Hipoglosso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5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 cranianos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>
            <a:spLocks noGrp="1"/>
          </p:cNvSpPr>
          <p:nvPr>
            <p:ph type="body" idx="1"/>
          </p:nvPr>
        </p:nvSpPr>
        <p:spPr>
          <a:xfrm>
            <a:off x="142875" y="1141326"/>
            <a:ext cx="9001125" cy="470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12 pares de nervos cranianos (fazem conexão com o encéfalo).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Sensitivos (puros)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 destinam-se aos órgãos dos sentidos: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I – Nervo Olfatório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II – Nervo Óptico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VIII – Nervo Vestibulococlear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6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 cranianos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>
            <a:spLocks noGrp="1"/>
          </p:cNvSpPr>
          <p:nvPr>
            <p:ph type="body" idx="1"/>
          </p:nvPr>
        </p:nvSpPr>
        <p:spPr>
          <a:xfrm>
            <a:off x="142875" y="1141326"/>
            <a:ext cx="9001125" cy="470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12 pares de nervos cranianos (fazem conexão com o encéfalo).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 b="1">
                <a:latin typeface="Arial"/>
                <a:ea typeface="Arial"/>
                <a:cs typeface="Arial"/>
                <a:sym typeface="Arial"/>
              </a:rPr>
              <a:t>Mistos 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(motores e sensitivos) são em número de quatro: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V – Trigêmeo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VII – Nervo Facial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IX – Nervo Glossofaríngeo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b="1" i="1">
                <a:latin typeface="Arial"/>
                <a:ea typeface="Arial"/>
                <a:cs typeface="Arial"/>
                <a:sym typeface="Arial"/>
              </a:rPr>
              <a:t>X – Nervo Vago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7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 cranianos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9" name="Google Shape;429;p48"/>
          <p:cNvGraphicFramePr/>
          <p:nvPr/>
        </p:nvGraphicFramePr>
        <p:xfrm>
          <a:off x="241387" y="1649268"/>
          <a:ext cx="8579100" cy="2793320"/>
        </p:xfrm>
        <a:graphic>
          <a:graphicData uri="http://schemas.openxmlformats.org/drawingml/2006/table">
            <a:tbl>
              <a:tblPr>
                <a:noFill/>
                <a:tableStyleId>{74E270A8-26FD-41CE-94D5-122D9CC93AA1}</a:tableStyleId>
              </a:tblPr>
              <a:tblGrid>
                <a:gridCol w="60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39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II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III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IV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VI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Olfatório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Óptico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Oculomotor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Troclear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Trigêmeo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Abducente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VII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VIII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IX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X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XI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XII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Facial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Vestíbulococlear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Glossofaríngeo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Vago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Acessório</a:t>
                      </a:r>
                      <a:br>
                        <a:rPr lang="pt-BR" sz="2400" u="none" strike="noStrike" cap="none">
                          <a:solidFill>
                            <a:srgbClr val="808080"/>
                          </a:solidFill>
                        </a:rPr>
                      </a:br>
                      <a:r>
                        <a:rPr lang="pt-BR" sz="2400" u="none" strike="noStrike" cap="none">
                          <a:solidFill>
                            <a:srgbClr val="000000"/>
                          </a:solidFill>
                        </a:rPr>
                        <a:t>Hipoglosso</a:t>
                      </a:r>
                      <a:endParaRPr sz="2400" u="none" strike="noStrike" cap="none">
                        <a:solidFill>
                          <a:srgbClr val="808080"/>
                        </a:solidFill>
                      </a:endParaRPr>
                    </a:p>
                  </a:txBody>
                  <a:tcPr marL="134425" marR="134425" marT="116500" marB="116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0" name="Google Shape;430;p48"/>
          <p:cNvSpPr txBox="1"/>
          <p:nvPr/>
        </p:nvSpPr>
        <p:spPr>
          <a:xfrm>
            <a:off x="218364" y="289687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 cranianos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m para nervos cranian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4184"/>
            <a:ext cx="4932040" cy="514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4932040" y="884184"/>
            <a:ext cx="4211960" cy="456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8" name="Picture 4" descr="Resultado de imagem para nervos cranian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642" y="980728"/>
            <a:ext cx="4111863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460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13" y="957872"/>
            <a:ext cx="8649173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878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>
            <a:spLocks noGrp="1"/>
          </p:cNvSpPr>
          <p:nvPr>
            <p:ph type="body" idx="1"/>
          </p:nvPr>
        </p:nvSpPr>
        <p:spPr>
          <a:xfrm>
            <a:off x="457200" y="941294"/>
            <a:ext cx="5485086" cy="5497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31 pares de nervos espinhais, correspondentes à 31 segmentos medulares: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8 cervicais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12 torácicos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5 lombares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5 sacrais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1 coccígeo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2286" y="1417637"/>
            <a:ext cx="3019472" cy="47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9"/>
          <p:cNvSpPr/>
          <p:nvPr/>
        </p:nvSpPr>
        <p:spPr>
          <a:xfrm>
            <a:off x="285750" y="4652105"/>
            <a:ext cx="550068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pares de nervos cervicais e apenas 7 vértebras cervicais, porque o primeiro par de nervos espinhais sai entre o occipital e C1.</a:t>
            </a:r>
            <a:endParaRPr sz="20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9"/>
          <p:cNvSpPr txBox="1"/>
          <p:nvPr/>
        </p:nvSpPr>
        <p:spPr>
          <a:xfrm>
            <a:off x="218364" y="289687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nervos espinhais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8077200" y="8361"/>
            <a:ext cx="1066800" cy="105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0" descr="reflexo.jpg">
            <a:extLst>
              <a:ext uri="{FF2B5EF4-FFF2-40B4-BE49-F238E27FC236}">
                <a16:creationId xmlns:a16="http://schemas.microsoft.com/office/drawing/2014/main" id="{6AEF4A6B-108B-4244-9B32-2E99BB9AB0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" r="5062"/>
          <a:stretch/>
        </p:blipFill>
        <p:spPr bwMode="auto">
          <a:xfrm>
            <a:off x="0" y="849288"/>
            <a:ext cx="8892480" cy="38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A8A9BB4-EE6D-46E9-A841-C5B2EE5FDA5E}"/>
              </a:ext>
            </a:extLst>
          </p:cNvPr>
          <p:cNvSpPr txBox="1"/>
          <p:nvPr/>
        </p:nvSpPr>
        <p:spPr>
          <a:xfrm>
            <a:off x="1331640" y="4869160"/>
            <a:ext cx="6624736" cy="1328023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pt-BR" sz="2400" b="1" dirty="0">
                <a:cs typeface="Tahoma" pitchFamily="34" charset="0"/>
              </a:rPr>
              <a:t>A medula espinhal é capaz de elaborar respostas rápidas em situações de emergência, sem a interferência do encéfalo.</a:t>
            </a:r>
            <a:endParaRPr lang="pt-BR" sz="2400" b="1" dirty="0"/>
          </a:p>
        </p:txBody>
      </p:sp>
      <p:sp>
        <p:nvSpPr>
          <p:cNvPr id="5" name="Retângulo 4"/>
          <p:cNvSpPr/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845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0" descr="medulaes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09913"/>
            <a:ext cx="5354638" cy="374808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0"/>
          <p:cNvSpPr/>
          <p:nvPr/>
        </p:nvSpPr>
        <p:spPr>
          <a:xfrm>
            <a:off x="157164" y="1074738"/>
            <a:ext cx="438626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GÂNGLIO NERVOSO: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agrupamentos 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corpos celulares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localizados fora do SNC. </a:t>
            </a:r>
            <a:endParaRPr/>
          </a:p>
        </p:txBody>
      </p:sp>
      <p:grpSp>
        <p:nvGrpSpPr>
          <p:cNvPr id="445" name="Google Shape;445;p50"/>
          <p:cNvGrpSpPr/>
          <p:nvPr/>
        </p:nvGrpSpPr>
        <p:grpSpPr>
          <a:xfrm>
            <a:off x="4659313" y="1074737"/>
            <a:ext cx="3936047" cy="3679825"/>
            <a:chOff x="4659313" y="708025"/>
            <a:chExt cx="4484687" cy="4046538"/>
          </a:xfrm>
        </p:grpSpPr>
        <p:pic>
          <p:nvPicPr>
            <p:cNvPr id="446" name="Google Shape;446;p50" descr="medula e gânglio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59313" y="708025"/>
              <a:ext cx="4484687" cy="4046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50"/>
            <p:cNvSpPr/>
            <p:nvPr/>
          </p:nvSpPr>
          <p:spPr>
            <a:xfrm>
              <a:off x="8172450" y="1074738"/>
              <a:ext cx="971550" cy="939800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50"/>
          <p:cNvSpPr txBox="1"/>
          <p:nvPr/>
        </p:nvSpPr>
        <p:spPr>
          <a:xfrm>
            <a:off x="218364" y="289687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Gânglios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350" y="971550"/>
            <a:ext cx="5591175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1"/>
          <p:cNvSpPr txBox="1"/>
          <p:nvPr/>
        </p:nvSpPr>
        <p:spPr>
          <a:xfrm>
            <a:off x="0" y="289687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Periférico – Terminações nervosas</a:t>
            </a:r>
            <a:endParaRPr sz="27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>
            <a:spLocks noGrp="1"/>
          </p:cNvSpPr>
          <p:nvPr>
            <p:ph type="body" idx="1"/>
          </p:nvPr>
        </p:nvSpPr>
        <p:spPr>
          <a:xfrm>
            <a:off x="137160" y="1194440"/>
            <a:ext cx="8761180" cy="4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Parte do Sistema Nervoso Periférico: controla os músculos lisos dos órgãos internos e glândulas, funciona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independentemente de nossa vontade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Chamado de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sistema neurovegetativo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ou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sistema nervoso visceral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 controle da vida vegetativa -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respiração, circulação 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pt-BR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digestão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2"/>
          <p:cNvSpPr txBox="1"/>
          <p:nvPr/>
        </p:nvSpPr>
        <p:spPr>
          <a:xfrm>
            <a:off x="218364" y="307975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Autônomo – SNA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body" idx="1"/>
          </p:nvPr>
        </p:nvSpPr>
        <p:spPr>
          <a:xfrm>
            <a:off x="457200" y="115728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Visceral (eferente):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Sistema nervoso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simpático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acelera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o organismo) –</a:t>
            </a:r>
            <a:r>
              <a:rPr lang="pt-BR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noradrenalina</a:t>
            </a:r>
            <a:endParaRPr sz="2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Sistema nervoso 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parassimpático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desacelera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o organismo) –</a:t>
            </a:r>
            <a:r>
              <a:rPr lang="pt-BR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acetilcolina</a:t>
            </a:r>
            <a:endParaRPr sz="2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3"/>
          <p:cNvSpPr txBox="1"/>
          <p:nvPr/>
        </p:nvSpPr>
        <p:spPr>
          <a:xfrm>
            <a:off x="218364" y="317500"/>
            <a:ext cx="86799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 Nervoso Autônomo – SNA</a:t>
            </a:r>
            <a:endParaRPr sz="2800" b="1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4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4239" y="0"/>
            <a:ext cx="50018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4"/>
          <p:cNvSpPr/>
          <p:nvPr/>
        </p:nvSpPr>
        <p:spPr>
          <a:xfrm>
            <a:off x="6969511" y="529709"/>
            <a:ext cx="12721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Acelera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4"/>
          <p:cNvSpPr/>
          <p:nvPr/>
        </p:nvSpPr>
        <p:spPr>
          <a:xfrm>
            <a:off x="221038" y="524943"/>
            <a:ext cx="1744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Desacelera</a:t>
            </a:r>
            <a:endParaRPr sz="2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5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0" name="Google Shape;48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28676"/>
            <a:ext cx="9144000" cy="5072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55"/>
          <p:cNvCxnSpPr/>
          <p:nvPr/>
        </p:nvCxnSpPr>
        <p:spPr>
          <a:xfrm>
            <a:off x="4712738" y="5843589"/>
            <a:ext cx="990123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6"/>
          <p:cNvSpPr/>
          <p:nvPr/>
        </p:nvSpPr>
        <p:spPr>
          <a:xfrm>
            <a:off x="23808" y="5429251"/>
            <a:ext cx="9144000" cy="142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8" name="Google Shape;48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687" y="1"/>
            <a:ext cx="72866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p56"/>
          <p:cNvCxnSpPr/>
          <p:nvPr/>
        </p:nvCxnSpPr>
        <p:spPr>
          <a:xfrm>
            <a:off x="6640391" y="6129344"/>
            <a:ext cx="1449643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4137</TotalTime>
  <Words>1807</Words>
  <Application>Microsoft Office PowerPoint</Application>
  <PresentationFormat>Apresentação na tela (4:3)</PresentationFormat>
  <Paragraphs>609</Paragraphs>
  <Slides>66</Slides>
  <Notes>52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0" baseType="lpstr">
      <vt:lpstr>Arial</vt:lpstr>
      <vt:lpstr>Calibri</vt:lpstr>
      <vt:lpstr>Tahoma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CLASSIFICAÇÃO FUNCIONAL Córtex Cerebral </vt:lpstr>
      <vt:lpstr>Apresentação do PowerPoint</vt:lpstr>
      <vt:lpstr>Apresentação do PowerPoint</vt:lpstr>
      <vt:lpstr>Substância Branca e Substância Cinzenta</vt:lpstr>
      <vt:lpstr>Telencéfalo –funções: Sensações Atos conscientes e voluntários (movimentos) Pensamento Memória Inteligência Aprendizagem  Sentidos Equilíbrio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Celes</dc:creator>
  <cp:lastModifiedBy>Dayanne Ayres</cp:lastModifiedBy>
  <cp:revision>3</cp:revision>
  <dcterms:created xsi:type="dcterms:W3CDTF">2013-02-25T03:12:38Z</dcterms:created>
  <dcterms:modified xsi:type="dcterms:W3CDTF">2024-09-13T23:37:11Z</dcterms:modified>
</cp:coreProperties>
</file>